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AI Engineering Delivery Manager</a:t>
            </a:r>
          </a:p>
          <a:p>
            <a:pPr>
              <a:spcAft>
                <a:spcPts val="4000"/>
              </a:spcAft>
              <a:defRPr sz="2200">
                <a:solidFill>
                  <a:srgbClr val="475569"/>
                </a:solidFill>
              </a:defRPr>
            </a:pPr>
            <a:r>
              <a:t>An LLM-Powered Intelligent Workforce Management System for Dynamic Task Allocation &amp; Workload Optimization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Presented by: LINKESH K V</a:t>
            </a:r>
            <a:br/>
            <a:r>
              <a:t>Roll No: CB.EN.U4ARE23023</a:t>
            </a:r>
            <a:br/>
            <a:r>
              <a:t>Course: 25ARE471 Introduction to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Motivation /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Cognitive Overload on Engineering Leads: </a:t>
            </a:r>
            <a:r>
              <a:rPr sz="1800">
                <a:solidFill>
                  <a:srgbClr val="475569"/>
                </a:solidFill>
              </a:rPr>
              <a:t>Managers manually juggle overlapping skills, deadlines, and fragmented calendar meetings across distributed teams.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Probabilistic LLM Failures: </a:t>
            </a:r>
            <a:r>
              <a:rPr sz="1800">
                <a:solidFill>
                  <a:srgbClr val="475569"/>
                </a:solidFill>
              </a:rPr>
              <a:t>Pure LLM architectures inherently hallucinate arithmetic—miscalculating working hours, deadlines, and schedule conflicts.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Opaque Decision-Making: </a:t>
            </a:r>
            <a:r>
              <a:rPr sz="1800">
                <a:solidFill>
                  <a:srgbClr val="475569"/>
                </a:solidFill>
              </a:rPr>
              <a:t>Traditional automated heuristic algorithms lack natural-language explainability, failing to communicate trade-offs and capacity risks.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Communication Latency: </a:t>
            </a:r>
            <a:r>
              <a:rPr sz="1800">
                <a:solidFill>
                  <a:srgbClr val="475569"/>
                </a:solidFill>
              </a:rPr>
              <a:t>Absence requests and task blockers are reported reactively through static forms, creating organizational lag and missed delivery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Problem Definition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Problem Definition:</a:t>
            </a:r>
          </a:p>
          <a:p>
            <a:pPr>
              <a:spcAft>
                <a:spcPts val="2000"/>
              </a:spcAft>
              <a:defRPr sz="1800">
                <a:solidFill>
                  <a:srgbClr val="334155"/>
                </a:solidFill>
              </a:defRPr>
            </a:pPr>
            <a:r>
              <a:t>To engineer an enterprise task-allocation framework that eliminates LLM arithmetic hallucinations by decoupling language reasoning from deterministic business logic, retaining full human governance.</a:t>
            </a:r>
          </a:p>
          <a:p>
            <a:pPr>
              <a:defRPr b="1" sz="2000">
                <a:solidFill>
                  <a:srgbClr val="2563EB"/>
                </a:solidFill>
              </a:defRPr>
            </a:pPr>
            <a:r>
              <a:t>Core Objectives: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1. Extract structured task requirements and estimated effort from natural language prompts using local LLM inference.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2. Deterministically calculate real-time calendar capacity and weighted skill compatibility without model hallucination.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3. Synthesize factual workload signals into explainable assignment trade-offs via a reasoning agent.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4. Enforce strict Human-in-the-Loop (HITL) authority: AI recommends → Human approves → Backend executes.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5. Enable Level-1 Bounded What-If Simulations to project absence impacts without production state mutation.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Solution Formulation –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Input Stage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Natural Language Prompt</a:t>
            </a:r>
            <a:br/>
            <a:r>
              <a:t>(Manager / 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GenAI Parsing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Local Llama 3 (8B) +</a:t>
            </a:r>
            <a:br/>
            <a:r>
              <a:t>Instructor Validation</a:t>
            </a:r>
            <a:br/>
            <a:r>
              <a:t>(Extracts Skills &amp; Effort)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Deterministic Core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Workload &amp; Calendar Engine</a:t>
            </a:r>
            <a:br/>
            <a:r>
              <a:t>+ Candidate Scorer</a:t>
            </a:r>
            <a:br/>
            <a:r>
              <a:t>(Zero LLM Math)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Reasoning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LLM Reasoning Agent</a:t>
            </a:r>
            <a:br/>
            <a:r>
              <a:t>(Generates Tradeoffs &amp;</a:t>
            </a:r>
            <a:br/>
            <a:r>
              <a:t>Confidence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Human Gatekeeper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Manager Approval UI</a:t>
            </a:r>
            <a:br/>
            <a:r>
              <a:t>(Approve / Reject / Modify)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Execution Engine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FastAPI Core &amp; DB State</a:t>
            </a:r>
            <a:br/>
            <a:r>
              <a:t>(Executes Task ID &amp;</a:t>
            </a:r>
            <a:br/>
            <a:r>
              <a:t>Capacity Drop)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Solution Formulation – Technical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Decoupled Hybrid Architecture: </a:t>
            </a:r>
            <a:r>
              <a:rPr sz="1700">
                <a:solidFill>
                  <a:srgbClr val="475569"/>
                </a:solidFill>
              </a:rPr>
              <a:t>Isolates probabilistic generation (Llama 3) from factual calculations. All date offsets, calendar overlaps, and capacity hours are computed deterministically in Python.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Strict Schema Enforcement: </a:t>
            </a:r>
            <a:r>
              <a:rPr sz="1700">
                <a:solidFill>
                  <a:srgbClr val="475569"/>
                </a:solidFill>
              </a:rPr>
              <a:t>Pydantic models act as runtime security boundaries. Unstructured outputs are coerced into strictly validated data structures via the Instructor library.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Factual Grounding Loop: </a:t>
            </a:r>
            <a:r>
              <a:rPr sz="1700">
                <a:solidFill>
                  <a:srgbClr val="475569"/>
                </a:solidFill>
              </a:rPr>
              <a:t>The LLM reasoning node receives structured candidate dossiers (exact capacity hours, matching skills, missing proficiencies) rather than querying the database directly, avoiding hallucinations.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Non-Mutating Sandbox: </a:t>
            </a:r>
            <a:r>
              <a:rPr sz="1700">
                <a:solidFill>
                  <a:srgbClr val="475569"/>
                </a:solidFill>
              </a:rPr>
              <a:t>The What-If Simulator clones in-memory state to model secondary impacts of sudden leaves or deadline shifts without altering production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Traditional Workflow vs GenAI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Lifecycle Stage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Workflow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GenAI Workflow (AI Engineering Delivery Manager)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Task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Manual input across 10+ form fields (Jira/Planner).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Natural language parsing into validated JSON models.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Capacity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Manual calendar inspections and static spreadsheets.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Deterministic engine computes net remaining hours.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Candidate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Intuitive selection or rigid static performance metrics.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Algorithmic skill match paired with LLM trade-off analysis.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Absence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Discovered reactively after project delays occur.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Conversational agent analyzes blast radius instantly.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Execution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Direct managerial assignment.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AI recommends → Human approves → System executes (HITL).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Usage of GenAI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Ollama Runtime: </a:t>
            </a:r>
            <a:r>
              <a:rPr sz="1800">
                <a:solidFill>
                  <a:srgbClr val="475569"/>
                </a:solidFill>
              </a:rPr>
              <a:t>Hosts open-weight models locally, ensuring enterprise data privacy and eliminating cloud inference latency and costs.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Meta Llama 3 (8B Instruct): </a:t>
            </a:r>
            <a:r>
              <a:rPr sz="1800">
                <a:solidFill>
                  <a:srgbClr val="475569"/>
                </a:solidFill>
              </a:rPr>
              <a:t>Serves as the core language intelligence layer for task extraction, conversational agent analysis, and recommendation reasoning.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Instructor Library: </a:t>
            </a:r>
            <a:r>
              <a:rPr sz="1800">
                <a:solidFill>
                  <a:srgbClr val="475569"/>
                </a:solidFill>
              </a:rPr>
              <a:t>Enforces strict JSON schema validation and retry mechanisms directly on Llama 3 outputs via OpenAI-compatible endpoints.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FastAPI &amp; Pydantic: </a:t>
            </a:r>
            <a:r>
              <a:rPr sz="1800">
                <a:solidFill>
                  <a:srgbClr val="475569"/>
                </a:solidFill>
              </a:rPr>
              <a:t>Provides the backend orchestration, request routing, and deterministic data contract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Challenge Identification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Arithmetic &amp; Schedule Hallucinations: </a:t>
            </a:r>
            <a:r>
              <a:rPr sz="1600">
                <a:solidFill>
                  <a:srgbClr val="334155"/>
                </a:solidFill>
              </a:rPr>
              <a:t>LLMs fail at calculating working hours and time deltas.
→ Mitigation: Abstracted math into pure Python engines; LLM only reasons on verified integers.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JSON Malformation in Local Models: </a:t>
            </a:r>
            <a:r>
              <a:rPr sz="1600">
                <a:solidFill>
                  <a:srgbClr val="334155"/>
                </a:solidFill>
              </a:rPr>
              <a:t>Smaller 8B models can produce invalid JSON that breaks API routes.
→ Mitigation: Integrated the Instructor framework to enforce automatic schema retry loops.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Unauthorized Autonomous State Mutation: </a:t>
            </a:r>
            <a:r>
              <a:rPr sz="1600">
                <a:solidFill>
                  <a:srgbClr val="334155"/>
                </a:solidFill>
              </a:rPr>
              <a:t>AI directly executing business assignments poses operational risks.
→ Mitigation: Architected an immutable Human-in-the-Loop approval gate before state commits.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Data Privacy &amp; HR Sensitivity: </a:t>
            </a:r>
            <a:r>
              <a:rPr sz="1600">
                <a:solidFill>
                  <a:srgbClr val="334155"/>
                </a:solidFill>
              </a:rPr>
              <a:t>Sending workforce schedules and private calendar items to third-party cloud APIs poses security risks.
→ Mitigation: Fully local execution using Ollama on dedicated edge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Evaluation Metrics &amp; Performance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Schema Adherence Rate (&gt;95%): </a:t>
            </a:r>
            <a:r>
              <a:rPr sz="1800">
                <a:solidFill>
                  <a:srgbClr val="475569"/>
                </a:solidFill>
              </a:rPr>
              <a:t>Measures how consistently local Llama 3 generates valid JSON conforming to Pydantic schemas without exhaustion of retries.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Mathematical Determinism (100%): </a:t>
            </a:r>
            <a:r>
              <a:rPr sz="1800">
                <a:solidFill>
                  <a:srgbClr val="475569"/>
                </a:solidFill>
              </a:rPr>
              <a:t>Zero margin of error on available hours and calendar math by using deterministic execution.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HITL Acceptance Rate: </a:t>
            </a:r>
            <a:r>
              <a:rPr sz="1800">
                <a:solidFill>
                  <a:srgbClr val="475569"/>
                </a:solidFill>
              </a:rPr>
              <a:t>Quantifies the percentage of AI-generated allocation suggestions approved by the human manager without modification.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Inference &amp; Execution Latency: </a:t>
            </a:r>
            <a:r>
              <a:rPr sz="1800">
                <a:solidFill>
                  <a:srgbClr val="475569"/>
                </a:solidFill>
              </a:rPr>
              <a:t>Tracks end-to-end response times across task parsing, candidate scoring, and reasoning synthesis on consumer-grade hardware (NVIDIA RTX 3050 Ti).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Customization &amp; Innovation Component(s)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Local Edge Deployment: </a:t>
            </a:r>
            <a:r>
              <a:rPr sz="1800">
                <a:solidFill>
                  <a:srgbClr val="475569"/>
                </a:solidFill>
              </a:rPr>
              <a:t>Zero-cost, enterprise-compliant local architecture running on edge GPUs, safeguarding organizational data from external cloud leakage.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Conversational Blast Radius Analyzer: </a:t>
            </a:r>
            <a:r>
              <a:rPr sz="1800">
                <a:solidFill>
                  <a:srgbClr val="475569"/>
                </a:solidFill>
              </a:rPr>
              <a:t>Empowers employees to communicate in unstructured natural language while dynamically mapping project downstream risks.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Non-Destructive Digital Twin Simulation: </a:t>
            </a:r>
            <a:r>
              <a:rPr sz="1800">
                <a:solidFill>
                  <a:srgbClr val="475569"/>
                </a:solidFill>
              </a:rPr>
              <a:t>Enables risk-free workforce schedule forecasting and rebalancing without modifying live task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Thank You!</a:t>
            </a:r>
          </a:p>
          <a:p>
            <a:pPr algn="ctr">
              <a:defRPr sz="2200">
                <a:solidFill>
                  <a:srgbClr val="64748B"/>
                </a:solidFill>
              </a:defRPr>
            </a:pPr>
            <a: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